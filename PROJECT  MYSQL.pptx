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2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2082F-276D-4DDF-8145-D976416E1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D24472-091A-4E9F-8DD8-4B5C816A91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E7DAA-14C8-4E4A-BE6B-52733AF4E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FA41C-8BAB-4A43-BC72-BA03CFE6A9D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98D11-34FB-49B9-AFE8-1A403206A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61DFC-A7F6-425E-9E53-3DC4D862F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60F7-5253-407F-9DC8-128F8F5EF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08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03C63-2488-45B3-BD14-D24E11DF6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E36D0-AFA0-43D4-81F1-7D936D5F0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251B1-4B46-4527-84AE-360B02CC8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FA41C-8BAB-4A43-BC72-BA03CFE6A9D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EA171-C6AD-4BA6-BCB8-7DB7B4CF5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A0FC7-DA47-48D0-9406-B6E5EC3F5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60F7-5253-407F-9DC8-128F8F5EF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05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791C2-523D-4D9C-8A8D-AA601DAED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7E0E7-5551-4957-9C55-F7B00F928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C6843-825E-4E98-BCAD-6FA271946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FA41C-8BAB-4A43-BC72-BA03CFE6A9D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29A96-17DB-4629-8294-9B4E77049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99570-B527-4FEE-9ACD-816D654D0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60F7-5253-407F-9DC8-128F8F5EF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057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F6A6-8990-4D67-B855-C33F9ADDE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F9824-4841-4D2C-969C-6E43D26427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A34B09-2580-4730-AB2A-F2EF91083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BEFC5B-F8B2-4A14-B778-D0724BFAC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FA41C-8BAB-4A43-BC72-BA03CFE6A9D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3A8090-C31C-448F-994E-0CE9B6954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FC2ED-E2B1-49E2-B01D-EF12568D1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60F7-5253-407F-9DC8-128F8F5EF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707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F4C47-701C-43FB-8FCB-ACB6DAF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FC38B-7F4D-4F2C-A9F0-99C4A9548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C094CF-4CF9-41CC-89D4-0EEBD3134A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75B085-C42F-4F22-9082-90B4533977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D19987-CDD1-4E17-9D13-D25E72B19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74A8F3-6777-4711-95EF-BBFBF6D14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FA41C-8BAB-4A43-BC72-BA03CFE6A9D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8E0479-FEE5-44ED-9A7D-68C09B8D2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C3DE30-E04F-47F7-B1EA-A9FEEB17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60F7-5253-407F-9DC8-128F8F5EF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962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CC6CA-479C-4D7F-A844-B75649CA7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19FD99-5AA8-4CC1-9AB0-78760663E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FA41C-8BAB-4A43-BC72-BA03CFE6A9D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DEAA67-EDF9-423A-BDF9-8AE79FD15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126935-DFEC-4015-92D9-C844A8B08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60F7-5253-407F-9DC8-128F8F5EF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957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F899F8-9B3A-45CB-82A5-2A48C3132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FA41C-8BAB-4A43-BC72-BA03CFE6A9D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5008CB-696A-41AE-9491-B095FEC6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A6DE5-8A20-4FCB-B9D1-53D034493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60F7-5253-407F-9DC8-128F8F5EF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294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2D7EA-B75E-4C58-B5CB-DAC644C72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99223-8418-42E4-8095-88D9E78DE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0F0121-2858-4028-8D2B-8CB028F06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463332-1851-46F1-BE2F-7429BC9CF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FA41C-8BAB-4A43-BC72-BA03CFE6A9D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EB4D6-9883-4D2F-BBC7-9268E0208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94DE72-7BD7-45E6-86D4-5750B4970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60F7-5253-407F-9DC8-128F8F5EF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219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5D46F-B59E-40CE-92CD-F0F71892F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41A8CD-5DA1-4ACB-B65D-588D3F29BE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BC3DA8-95E4-4CA5-A14B-AE8FE1222A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97AB5-86FA-40F3-A41A-8E2648DB3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FA41C-8BAB-4A43-BC72-BA03CFE6A9D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5FF43B-3714-4B63-92EC-16FD6FA9C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393ED-C834-46AB-8F0A-13A9B27B0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60F7-5253-407F-9DC8-128F8F5EF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654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82D83-B252-4228-B446-4B371265A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467920-E767-4D7B-9336-AA9884F1F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DCB73-C13F-4CC0-9FC4-1394021C6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FA41C-8BAB-4A43-BC72-BA03CFE6A9D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23090-3D2C-4651-A7CC-4BA70B3FD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538C8-0F05-4AD7-8A02-7CA03A4FD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60F7-5253-407F-9DC8-128F8F5EF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322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657127-2B99-429A-82C3-0642F2F9E6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5B66A9-9EA4-4E6C-AB0C-D024A455AE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9072B-9E6D-432E-A8BC-3DEBC1223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FA41C-8BAB-4A43-BC72-BA03CFE6A9D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71B54-6F04-4779-9236-24B7DCE79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5A78E-868C-43AD-B8B4-2BDA09B20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60F7-5253-407F-9DC8-128F8F5EF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180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DB7CAE-BBE0-41E2-850C-B6BB4C73D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E4F88-FD1B-491C-A80E-5D3E5A96F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81096-6B83-48B3-A38F-464CFBB676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FA41C-8BAB-4A43-BC72-BA03CFE6A9D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15A43-8A57-4A0B-AC58-BEF06F54CC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F99DF-5971-4791-9D7C-94BB8BF0D2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A60F7-5253-407F-9DC8-128F8F5EF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770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0B7EA38-944C-4E36-832A-93E6E79C0D1D}"/>
              </a:ext>
            </a:extLst>
          </p:cNvPr>
          <p:cNvSpPr txBox="1"/>
          <p:nvPr/>
        </p:nvSpPr>
        <p:spPr>
          <a:xfrm>
            <a:off x="2757054" y="304799"/>
            <a:ext cx="45304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Ecommerce SQL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4C83D5-1C38-4E63-A64C-D12546C43B49}"/>
              </a:ext>
            </a:extLst>
          </p:cNvPr>
          <p:cNvSpPr txBox="1"/>
          <p:nvPr/>
        </p:nvSpPr>
        <p:spPr>
          <a:xfrm>
            <a:off x="526473" y="1105247"/>
            <a:ext cx="80356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NAME: Olasode Muiz  Olawale </a:t>
            </a:r>
          </a:p>
          <a:p>
            <a:r>
              <a:rPr lang="en-US" sz="2800" dirty="0"/>
              <a:t>COURSE: Data Analysis</a:t>
            </a:r>
          </a:p>
          <a:p>
            <a:r>
              <a:rPr lang="en-US" sz="2800" dirty="0"/>
              <a:t>DATE: 17/FEB/26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CB1FA17-D674-4B73-971F-B755DEF88FA4}"/>
              </a:ext>
            </a:extLst>
          </p:cNvPr>
          <p:cNvGrpSpPr/>
          <p:nvPr/>
        </p:nvGrpSpPr>
        <p:grpSpPr>
          <a:xfrm>
            <a:off x="706581" y="2705915"/>
            <a:ext cx="9227128" cy="3847286"/>
            <a:chOff x="706581" y="2705915"/>
            <a:chExt cx="9227128" cy="384728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11407A-0A72-4F33-BDC6-E0A3DE7573E9}"/>
                </a:ext>
              </a:extLst>
            </p:cNvPr>
            <p:cNvSpPr/>
            <p:nvPr/>
          </p:nvSpPr>
          <p:spPr>
            <a:xfrm>
              <a:off x="706581" y="2705915"/>
              <a:ext cx="9227128" cy="3847286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105B9D1-7AA7-44F6-BF25-B07F45BCBF1A}"/>
                </a:ext>
              </a:extLst>
            </p:cNvPr>
            <p:cNvSpPr txBox="1"/>
            <p:nvPr/>
          </p:nvSpPr>
          <p:spPr>
            <a:xfrm>
              <a:off x="825337" y="2910919"/>
              <a:ext cx="38482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Q1. Total Sales by Employee:  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7674974-54F8-45D4-86C0-5DFE6FA7D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73714" y="2705915"/>
              <a:ext cx="6159995" cy="37749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22820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F83C261-E282-49D6-A03C-429CE2A4924E}"/>
              </a:ext>
            </a:extLst>
          </p:cNvPr>
          <p:cNvSpPr/>
          <p:nvPr/>
        </p:nvSpPr>
        <p:spPr>
          <a:xfrm>
            <a:off x="6317673" y="55418"/>
            <a:ext cx="5763491" cy="674716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818C059-3324-4752-8354-95EE8251E462}"/>
              </a:ext>
            </a:extLst>
          </p:cNvPr>
          <p:cNvGrpSpPr/>
          <p:nvPr/>
        </p:nvGrpSpPr>
        <p:grpSpPr>
          <a:xfrm>
            <a:off x="0" y="55418"/>
            <a:ext cx="6192982" cy="6747164"/>
            <a:chOff x="0" y="55418"/>
            <a:chExt cx="6192982" cy="674716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06EE7D4-3375-42F7-862C-9F990DB78F16}"/>
                </a:ext>
              </a:extLst>
            </p:cNvPr>
            <p:cNvSpPr/>
            <p:nvPr/>
          </p:nvSpPr>
          <p:spPr>
            <a:xfrm>
              <a:off x="0" y="55418"/>
              <a:ext cx="6192982" cy="6747164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A07AD84-D1EA-42C4-A2EE-D8C75CA1BCC1}"/>
                </a:ext>
              </a:extLst>
            </p:cNvPr>
            <p:cNvSpPr txBox="1"/>
            <p:nvPr/>
          </p:nvSpPr>
          <p:spPr>
            <a:xfrm>
              <a:off x="235527" y="193964"/>
              <a:ext cx="35883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Q2. Top 5 Customers by Sales:  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87E5997-85D5-47C2-8503-752A720E27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836" y="845127"/>
              <a:ext cx="5832764" cy="4585855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FC04F696-B5D4-497B-8A00-2BC13932A5F0}"/>
              </a:ext>
            </a:extLst>
          </p:cNvPr>
          <p:cNvSpPr txBox="1"/>
          <p:nvPr/>
        </p:nvSpPr>
        <p:spPr>
          <a:xfrm>
            <a:off x="6580909" y="203078"/>
            <a:ext cx="4890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Q3. Monthly Sales Trend: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32A18A4-1EB4-4E9D-A320-2531D2E1F5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564" y="1023899"/>
            <a:ext cx="3657600" cy="181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485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9E5B65F-7178-4097-A4A0-1EBC8CA0AA92}"/>
              </a:ext>
            </a:extLst>
          </p:cNvPr>
          <p:cNvGrpSpPr/>
          <p:nvPr/>
        </p:nvGrpSpPr>
        <p:grpSpPr>
          <a:xfrm>
            <a:off x="207818" y="131618"/>
            <a:ext cx="5929745" cy="6594764"/>
            <a:chOff x="207818" y="131618"/>
            <a:chExt cx="5929745" cy="659476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4A898E9-162D-4534-8486-7DC4BA9B3133}"/>
                </a:ext>
              </a:extLst>
            </p:cNvPr>
            <p:cNvSpPr/>
            <p:nvPr/>
          </p:nvSpPr>
          <p:spPr>
            <a:xfrm>
              <a:off x="207818" y="131618"/>
              <a:ext cx="5929745" cy="6594764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67F8196-EDEF-4F70-A295-FEA1CF8B2E9B}"/>
                </a:ext>
              </a:extLst>
            </p:cNvPr>
            <p:cNvSpPr txBox="1"/>
            <p:nvPr/>
          </p:nvSpPr>
          <p:spPr>
            <a:xfrm>
              <a:off x="540326" y="198704"/>
              <a:ext cx="43641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Q4. Order Fulfilment Time: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4C51207-B09F-4A6E-9778-2C8489A3A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0326" y="1066800"/>
              <a:ext cx="4890656" cy="4599709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45299A0-3C43-4212-B721-14C42FB29EE5}"/>
              </a:ext>
            </a:extLst>
          </p:cNvPr>
          <p:cNvGrpSpPr/>
          <p:nvPr/>
        </p:nvGrpSpPr>
        <p:grpSpPr>
          <a:xfrm>
            <a:off x="6345382" y="110837"/>
            <a:ext cx="5680365" cy="6594764"/>
            <a:chOff x="6345382" y="110837"/>
            <a:chExt cx="5680365" cy="659476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55F8FEF-66A7-46D8-81F6-096CD50BB4E9}"/>
                </a:ext>
              </a:extLst>
            </p:cNvPr>
            <p:cNvSpPr/>
            <p:nvPr/>
          </p:nvSpPr>
          <p:spPr>
            <a:xfrm>
              <a:off x="6345382" y="110837"/>
              <a:ext cx="5680365" cy="6594764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4EC1B5B-4041-4EEE-8A9A-105FC130C776}"/>
                </a:ext>
              </a:extLst>
            </p:cNvPr>
            <p:cNvSpPr txBox="1"/>
            <p:nvPr/>
          </p:nvSpPr>
          <p:spPr>
            <a:xfrm>
              <a:off x="6470071" y="193962"/>
              <a:ext cx="457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Q5. Products by Category with No Sales: 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A12DA18-238B-453A-AFE1-6B8D481F66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0070" y="646420"/>
              <a:ext cx="5015347" cy="29003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11496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A7BFCF6-512E-4939-A3FC-45948F89338E}"/>
              </a:ext>
            </a:extLst>
          </p:cNvPr>
          <p:cNvGrpSpPr/>
          <p:nvPr/>
        </p:nvGrpSpPr>
        <p:grpSpPr>
          <a:xfrm>
            <a:off x="110836" y="145473"/>
            <a:ext cx="5694219" cy="6601692"/>
            <a:chOff x="110836" y="145473"/>
            <a:chExt cx="5694219" cy="660169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7ABC6B6-599F-4239-9730-DE80DF216B0E}"/>
                </a:ext>
              </a:extLst>
            </p:cNvPr>
            <p:cNvSpPr/>
            <p:nvPr/>
          </p:nvSpPr>
          <p:spPr>
            <a:xfrm>
              <a:off x="110836" y="145473"/>
              <a:ext cx="5694219" cy="660169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BF880AC-56B7-48EA-AE97-94667F5B3924}"/>
                </a:ext>
              </a:extLst>
            </p:cNvPr>
            <p:cNvSpPr txBox="1"/>
            <p:nvPr/>
          </p:nvSpPr>
          <p:spPr>
            <a:xfrm>
              <a:off x="187035" y="263236"/>
              <a:ext cx="5541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Q6. Customers with Multiple Orders on the Same Date: 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A509614-488D-44D3-9AB1-A25945A41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035" y="1149894"/>
              <a:ext cx="5541819" cy="1621015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6AEDE37-0930-4A1D-931E-17CE5975AF04}"/>
              </a:ext>
            </a:extLst>
          </p:cNvPr>
          <p:cNvGrpSpPr/>
          <p:nvPr/>
        </p:nvGrpSpPr>
        <p:grpSpPr>
          <a:xfrm>
            <a:off x="6095999" y="145473"/>
            <a:ext cx="5985164" cy="6567055"/>
            <a:chOff x="6095999" y="145473"/>
            <a:chExt cx="5985164" cy="656705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A184AF9-0397-4155-A201-CC7D4CE5DA8E}"/>
                </a:ext>
              </a:extLst>
            </p:cNvPr>
            <p:cNvSpPr/>
            <p:nvPr/>
          </p:nvSpPr>
          <p:spPr>
            <a:xfrm>
              <a:off x="6095999" y="145473"/>
              <a:ext cx="5985164" cy="6567055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84C1EEA-720C-497A-B2D9-7F3E0EEB9CAC}"/>
                </a:ext>
              </a:extLst>
            </p:cNvPr>
            <p:cNvSpPr txBox="1"/>
            <p:nvPr/>
          </p:nvSpPr>
          <p:spPr>
            <a:xfrm>
              <a:off x="6220692" y="289853"/>
              <a:ext cx="41425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Q7. Average Discount per Product: 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4895471-7B66-4598-9C7E-1FA5EB3281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20693" y="955963"/>
              <a:ext cx="5611090" cy="54586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27203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95011C1-C532-484F-9F3D-09A568CCDCBE}"/>
              </a:ext>
            </a:extLst>
          </p:cNvPr>
          <p:cNvGrpSpPr/>
          <p:nvPr/>
        </p:nvGrpSpPr>
        <p:grpSpPr>
          <a:xfrm>
            <a:off x="110836" y="96982"/>
            <a:ext cx="6151419" cy="6664036"/>
            <a:chOff x="110836" y="96982"/>
            <a:chExt cx="6151419" cy="6664036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23D456C-773C-4466-9359-C6EBAA749FA9}"/>
                </a:ext>
              </a:extLst>
            </p:cNvPr>
            <p:cNvSpPr/>
            <p:nvPr/>
          </p:nvSpPr>
          <p:spPr>
            <a:xfrm>
              <a:off x="110836" y="96982"/>
              <a:ext cx="6151419" cy="6664036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683F407-5D3D-4553-A240-AA271AE620EF}"/>
                </a:ext>
              </a:extLst>
            </p:cNvPr>
            <p:cNvSpPr txBox="1"/>
            <p:nvPr/>
          </p:nvSpPr>
          <p:spPr>
            <a:xfrm>
              <a:off x="290946" y="341807"/>
              <a:ext cx="48352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Q8. Products Ordered by Each Customer: 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D2E17D8-61F8-46EB-8C13-38D2F7A16E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0947" y="955964"/>
              <a:ext cx="5805054" cy="441960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0279511-9011-4D1F-8D6E-43FDEF8392AE}"/>
              </a:ext>
            </a:extLst>
          </p:cNvPr>
          <p:cNvGrpSpPr/>
          <p:nvPr/>
        </p:nvGrpSpPr>
        <p:grpSpPr>
          <a:xfrm>
            <a:off x="6511637" y="96982"/>
            <a:ext cx="5569528" cy="6664036"/>
            <a:chOff x="6511637" y="96982"/>
            <a:chExt cx="5569528" cy="666403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3740B02-A478-4512-B865-A670EC2FFF79}"/>
                </a:ext>
              </a:extLst>
            </p:cNvPr>
            <p:cNvSpPr/>
            <p:nvPr/>
          </p:nvSpPr>
          <p:spPr>
            <a:xfrm>
              <a:off x="6511637" y="96982"/>
              <a:ext cx="5569528" cy="6664036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D10FA93-13D7-442D-A4A0-9A2D215C4F58}"/>
                </a:ext>
              </a:extLst>
            </p:cNvPr>
            <p:cNvSpPr txBox="1"/>
            <p:nvPr/>
          </p:nvSpPr>
          <p:spPr>
            <a:xfrm>
              <a:off x="6691745" y="341807"/>
              <a:ext cx="4461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Q9. Products Ordered by Each Customer: 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CFEAAEA-2A29-4017-834E-5C6C0B812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91745" y="831273"/>
              <a:ext cx="5209308" cy="42256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0086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72CCA2-B21C-4D34-AD8D-6D5DA1239115}"/>
              </a:ext>
            </a:extLst>
          </p:cNvPr>
          <p:cNvGrpSpPr/>
          <p:nvPr/>
        </p:nvGrpSpPr>
        <p:grpSpPr>
          <a:xfrm>
            <a:off x="124691" y="193963"/>
            <a:ext cx="5749637" cy="6539346"/>
            <a:chOff x="124691" y="193963"/>
            <a:chExt cx="5749637" cy="6539346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39309F7-3B13-49B0-A770-1255F90C02E1}"/>
                </a:ext>
              </a:extLst>
            </p:cNvPr>
            <p:cNvSpPr/>
            <p:nvPr/>
          </p:nvSpPr>
          <p:spPr>
            <a:xfrm>
              <a:off x="124691" y="193963"/>
              <a:ext cx="5749637" cy="6539346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9C6DA6C-025F-44A2-BBDC-32C313729F1B}"/>
                </a:ext>
              </a:extLst>
            </p:cNvPr>
            <p:cNvSpPr txBox="1"/>
            <p:nvPr/>
          </p:nvSpPr>
          <p:spPr>
            <a:xfrm>
              <a:off x="346362" y="346364"/>
              <a:ext cx="5112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Q10. Sales by Country and Category: 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F6A150C-4827-4D79-A2D9-7EB468588D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362" y="1080655"/>
              <a:ext cx="5209311" cy="4599709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7195296-D453-4F35-9E98-34EA5A7B4BEF}"/>
              </a:ext>
            </a:extLst>
          </p:cNvPr>
          <p:cNvGrpSpPr/>
          <p:nvPr/>
        </p:nvGrpSpPr>
        <p:grpSpPr>
          <a:xfrm>
            <a:off x="6096000" y="110836"/>
            <a:ext cx="5971309" cy="6539346"/>
            <a:chOff x="6096000" y="110836"/>
            <a:chExt cx="5971309" cy="653934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025CFAF-24C9-409B-B4AA-2DFC17E308C8}"/>
                </a:ext>
              </a:extLst>
            </p:cNvPr>
            <p:cNvSpPr/>
            <p:nvPr/>
          </p:nvSpPr>
          <p:spPr>
            <a:xfrm>
              <a:off x="6096000" y="110836"/>
              <a:ext cx="5971309" cy="6539346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9677E39-1304-4A8B-B01B-1AD7293EAEFB}"/>
                </a:ext>
              </a:extLst>
            </p:cNvPr>
            <p:cNvSpPr txBox="1"/>
            <p:nvPr/>
          </p:nvSpPr>
          <p:spPr>
            <a:xfrm>
              <a:off x="6317672" y="267794"/>
              <a:ext cx="4017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Q11. Year-over-Year Sales Growth: 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22F759C-431D-41F0-8106-1A73573F67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17671" y="794084"/>
              <a:ext cx="5749637" cy="43320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4232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1E824E8-C056-46D6-BD70-8B9879565F9D}"/>
              </a:ext>
            </a:extLst>
          </p:cNvPr>
          <p:cNvGrpSpPr/>
          <p:nvPr/>
        </p:nvGrpSpPr>
        <p:grpSpPr>
          <a:xfrm>
            <a:off x="0" y="124689"/>
            <a:ext cx="5929745" cy="6608619"/>
            <a:chOff x="0" y="124689"/>
            <a:chExt cx="5929745" cy="660861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6755C19-2561-488E-8067-469C719C3E8E}"/>
                </a:ext>
              </a:extLst>
            </p:cNvPr>
            <p:cNvSpPr/>
            <p:nvPr/>
          </p:nvSpPr>
          <p:spPr>
            <a:xfrm>
              <a:off x="0" y="124689"/>
              <a:ext cx="5929745" cy="6608619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D7C2709-EE8B-4F7E-B357-C3D3F868FF10}"/>
                </a:ext>
              </a:extLst>
            </p:cNvPr>
            <p:cNvSpPr txBox="1"/>
            <p:nvPr/>
          </p:nvSpPr>
          <p:spPr>
            <a:xfrm>
              <a:off x="304799" y="235527"/>
              <a:ext cx="41702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Q12. Order Quantity Percentile: 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7FD384B-52D9-42A0-B6BA-942FA2B461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398" y="817418"/>
              <a:ext cx="5583384" cy="5472545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80B274F-DFC2-420D-A975-D755D4A26F6A}"/>
              </a:ext>
            </a:extLst>
          </p:cNvPr>
          <p:cNvGrpSpPr/>
          <p:nvPr/>
        </p:nvGrpSpPr>
        <p:grpSpPr>
          <a:xfrm>
            <a:off x="6109857" y="124690"/>
            <a:ext cx="5929745" cy="6608619"/>
            <a:chOff x="6109857" y="124690"/>
            <a:chExt cx="5929745" cy="66086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08F1D0F-FDF5-4BCD-9E62-5A94A40C3E90}"/>
                </a:ext>
              </a:extLst>
            </p:cNvPr>
            <p:cNvSpPr/>
            <p:nvPr/>
          </p:nvSpPr>
          <p:spPr>
            <a:xfrm>
              <a:off x="6109857" y="124690"/>
              <a:ext cx="5929745" cy="6608619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33D48C4-EDB2-477F-A432-EA76F0D5A7EF}"/>
                </a:ext>
              </a:extLst>
            </p:cNvPr>
            <p:cNvSpPr txBox="1"/>
            <p:nvPr/>
          </p:nvSpPr>
          <p:spPr>
            <a:xfrm>
              <a:off x="6400800" y="244641"/>
              <a:ext cx="37545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Q13. Products Never Reordered: 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7F4F787-9E07-438F-9147-8434CC6539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30292" y="1039091"/>
              <a:ext cx="3754581" cy="27847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24979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9F2D47F-FB86-4159-8F6E-3E145613C140}"/>
              </a:ext>
            </a:extLst>
          </p:cNvPr>
          <p:cNvGrpSpPr/>
          <p:nvPr/>
        </p:nvGrpSpPr>
        <p:grpSpPr>
          <a:xfrm>
            <a:off x="152400" y="152400"/>
            <a:ext cx="5943600" cy="6539345"/>
            <a:chOff x="152400" y="152400"/>
            <a:chExt cx="5943600" cy="65393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35FF251-14A5-4E37-AFFD-15425731D766}"/>
                </a:ext>
              </a:extLst>
            </p:cNvPr>
            <p:cNvSpPr/>
            <p:nvPr/>
          </p:nvSpPr>
          <p:spPr>
            <a:xfrm>
              <a:off x="152400" y="152400"/>
              <a:ext cx="5943600" cy="6539345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5528068-0189-4F62-8A8A-458C03DFA525}"/>
                </a:ext>
              </a:extLst>
            </p:cNvPr>
            <p:cNvSpPr txBox="1"/>
            <p:nvPr/>
          </p:nvSpPr>
          <p:spPr>
            <a:xfrm>
              <a:off x="387927" y="277091"/>
              <a:ext cx="472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Q14. Most Valuable Product by Revenue: 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5ADC844-F6B4-47FB-A2C5-AF80CFDCB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00" y="771115"/>
              <a:ext cx="5943600" cy="3980994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55E9FBF-BDBA-4B2E-B5CC-8ABCC473D430}"/>
              </a:ext>
            </a:extLst>
          </p:cNvPr>
          <p:cNvGrpSpPr/>
          <p:nvPr/>
        </p:nvGrpSpPr>
        <p:grpSpPr>
          <a:xfrm>
            <a:off x="6248400" y="166255"/>
            <a:ext cx="5943600" cy="6539345"/>
            <a:chOff x="6248400" y="166255"/>
            <a:chExt cx="5943600" cy="653934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C664044-763E-41B6-ADAC-F05B73279586}"/>
                </a:ext>
              </a:extLst>
            </p:cNvPr>
            <p:cNvSpPr/>
            <p:nvPr/>
          </p:nvSpPr>
          <p:spPr>
            <a:xfrm>
              <a:off x="6248400" y="166255"/>
              <a:ext cx="5943600" cy="6539345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9614BB7-4F01-40A1-934B-E394BEDE8008}"/>
                </a:ext>
              </a:extLst>
            </p:cNvPr>
            <p:cNvSpPr txBox="1"/>
            <p:nvPr/>
          </p:nvSpPr>
          <p:spPr>
            <a:xfrm>
              <a:off x="6525491" y="286205"/>
              <a:ext cx="43364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Q15. Complex Order Details: 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A649A3B-DC0B-41E5-A1AB-9D8429D23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87814" y="947051"/>
              <a:ext cx="2633277" cy="41514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28264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20569</TotalTime>
  <Words>130</Words>
  <Application>Microsoft Office PowerPoint</Application>
  <PresentationFormat>Widescreen</PresentationFormat>
  <Paragraphs>19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olasode muiz</dc:creator>
  <cp:lastModifiedBy>olasode muiz</cp:lastModifiedBy>
  <cp:revision>2</cp:revision>
  <dcterms:created xsi:type="dcterms:W3CDTF">2026-03-17T10:46:46Z</dcterms:created>
  <dcterms:modified xsi:type="dcterms:W3CDTF">2026-03-31T17:36:01Z</dcterms:modified>
</cp:coreProperties>
</file>